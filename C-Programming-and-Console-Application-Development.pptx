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consolata"/>
      <p:regular r:id="rId201314"/>
    </p:embeddedFont>
    <p:embeddedFont>
      <p:font typeface="Inconsolata Bold"/>
      <p:regular r:id="rId201315"/>
    </p:embeddedFont>
    <p:embeddedFont>
      <p:font typeface="Montserrat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2.png"/><Relationship Id="rId5" Type="http://schemas.openxmlformats.org/officeDocument/2006/relationships/image" Target="../media/image-10-3.svg"/><Relationship Id="rId6" Type="http://schemas.openxmlformats.org/officeDocument/2006/relationships/image" Target="../media/image-10-2.png"/><Relationship Id="rId7" Type="http://schemas.openxmlformats.org/officeDocument/2006/relationships/image" Target="../media/image-10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00151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C++ Programming &amp; Console Application Development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55566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Industrial / Summer Internship Report · One-Month Remote Programme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570611"/>
            <a:ext cx="2493404" cy="287139"/>
          </a:xfrm>
          <a:prstGeom prst="roundRect">
            <a:avLst>
              <a:gd name="adj" fmla="val 2654"/>
            </a:avLst>
          </a:prstGeom>
          <a:solidFill>
            <a:srgbClr val="E4E6E7"/>
          </a:solidFill>
          <a:ln/>
        </p:spPr>
      </p:sp>
      <p:sp>
        <p:nvSpPr>
          <p:cNvPr id="6" name="Text 3"/>
          <p:cNvSpPr/>
          <p:nvPr/>
        </p:nvSpPr>
        <p:spPr>
          <a:xfrm>
            <a:off x="774879" y="4627265"/>
            <a:ext cx="287618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IILM UNIVERSITY, GREATER NOIDA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3249333" y="4570611"/>
            <a:ext cx="3248936" cy="287139"/>
          </a:xfrm>
          <a:prstGeom prst="roundRect">
            <a:avLst>
              <a:gd name="adj" fmla="val 2654"/>
            </a:avLst>
          </a:prstGeom>
          <a:noFill/>
          <a:ln w="6350">
            <a:solidFill>
              <a:srgbClr val="15161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62737" y="4627265"/>
            <a:ext cx="3631712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SCHOOL OF COMPUTER SCIENCE &amp; ENGINEERING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8063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Internship at a Glance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69430"/>
            <a:ext cx="5337339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30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661475" y="2236688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Days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61475" y="2597348"/>
            <a:ext cx="533733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Remote internship duration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92782" y="1469430"/>
            <a:ext cx="5337438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4450" dirty="0"/>
          </a:p>
        </p:txBody>
      </p:sp>
      <p:sp>
        <p:nvSpPr>
          <p:cNvPr id="7" name="Text 5"/>
          <p:cNvSpPr/>
          <p:nvPr/>
        </p:nvSpPr>
        <p:spPr>
          <a:xfrm>
            <a:off x="6192782" y="2236688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192782" y="2597348"/>
            <a:ext cx="53374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Console applications built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3254673"/>
            <a:ext cx="5337339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4450" dirty="0"/>
          </a:p>
        </p:txBody>
      </p:sp>
      <p:sp>
        <p:nvSpPr>
          <p:cNvPr id="10" name="Text 8"/>
          <p:cNvSpPr/>
          <p:nvPr/>
        </p:nvSpPr>
        <p:spPr>
          <a:xfrm>
            <a:off x="661475" y="4021931"/>
            <a:ext cx="5337339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File-Based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61475" y="4382591"/>
            <a:ext cx="5337339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Projects with persistence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192782" y="3254673"/>
            <a:ext cx="5337438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4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4450" dirty="0"/>
          </a:p>
        </p:txBody>
      </p:sp>
      <p:sp>
        <p:nvSpPr>
          <p:cNvPr id="13" name="Text 11"/>
          <p:cNvSpPr/>
          <p:nvPr/>
        </p:nvSpPr>
        <p:spPr>
          <a:xfrm>
            <a:off x="6192782" y="4021931"/>
            <a:ext cx="5337438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GitHub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192782" y="4382591"/>
            <a:ext cx="5337438" cy="26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Version-controlled submissions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475" y="4973638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Student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61475" y="5396409"/>
            <a:ext cx="5225423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Raghav Rathi (25SCS1003003137)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· Class 2CSE23 · 2nd Year, 3rd Semester · B.Tech CSE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11147" y="4973638"/>
            <a:ext cx="5225423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Host Organisation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311147" y="5396409"/>
            <a:ext cx="5225423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VirtualWorks Lab</a:t>
            </a:r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(an educational initiative by Noivrn, MSME UDYAM-MH-26-1199183) · Ref: VWX-SEP26TOOCT26-773 · 09 Sep – 09 Oct 2026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1202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About VirtualWorks Lab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5233360" y="1409402"/>
            <a:ext cx="6296860" cy="1153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VirtualWorks Lab is an educational internship initiative operated by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Noivrn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, registered under the Ministry of MSME. It runs short, remote, project-based programmes for early-stage engineering students — emphasising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151617"/>
                </a:solidFill>
                <a:latin typeface="Inconsolata Bold" pitchFamily="34" charset="0"/>
                <a:ea typeface="Inconsolata Bold" pitchFamily="34" charset="-122"/>
                <a:cs typeface="Inconsolata Bold" pitchFamily="34" charset="-120"/>
              </a:rPr>
              <a:t>working code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over passive lectures.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5233360" y="2762647"/>
            <a:ext cx="3059730" cy="1960662"/>
          </a:xfrm>
          <a:prstGeom prst="roundRect">
            <a:avLst>
              <a:gd name="adj" fmla="val 389"/>
            </a:avLst>
          </a:prstGeom>
          <a:solidFill>
            <a:srgbClr val="F8ECE4"/>
          </a:solidFill>
          <a:ln w="25399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41814" y="2971105"/>
            <a:ext cx="264282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Structured Tasks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41814" y="3363516"/>
            <a:ext cx="2642824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Increasingly involved assignments tracked against a public code repository.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470390" y="2762647"/>
            <a:ext cx="3059830" cy="1960662"/>
          </a:xfrm>
          <a:prstGeom prst="roundRect">
            <a:avLst>
              <a:gd name="adj" fmla="val 389"/>
            </a:avLst>
          </a:prstGeom>
          <a:solidFill>
            <a:srgbClr val="F8ECE4"/>
          </a:solidFill>
          <a:ln w="25399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78844" y="2971105"/>
            <a:ext cx="264292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Performance Evaluation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78844" y="3649563"/>
            <a:ext cx="264292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programme closes with a documented evaluation and certificate of completion.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33360" y="4900612"/>
            <a:ext cx="6296860" cy="1386185"/>
          </a:xfrm>
          <a:prstGeom prst="roundRect">
            <a:avLst>
              <a:gd name="adj" fmla="val 550"/>
            </a:avLst>
          </a:prstGeom>
          <a:solidFill>
            <a:srgbClr val="F8ECE4"/>
          </a:solidFill>
          <a:ln w="25399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4130" dir="270000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41814" y="5109071"/>
            <a:ext cx="587995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Real Deliverables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41814" y="5501481"/>
            <a:ext cx="5879953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Interns build applications a non-programmer could actually run and use.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449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Objectives &amp;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0808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Was the Goal?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492375"/>
            <a:ext cx="5203794" cy="3354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Reinforce C++ syntax — loops, conditionals, functions, arrays, strings — through complete programs.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Design menu-driven, console-based user interaction.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Use randomisation for an interactive, replayable game.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Model a 2D game board with win/draw detection.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Persist structured records using C++ file streams.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Build the habit of testing against normal, boundary, and invalid inputs.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332776" y="200808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Scope &amp; Limitations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332776" y="2492375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Beginner-to-intermediate, single-user, console-based C++ applications for learning — not production deployment.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3569692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Persistence uses plain text files (no database)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authentication or concurrency handling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 graphical interface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1475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Tools &amp; Working Method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20580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Tools &amp; Technologies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91159"/>
          <a:ext cx="9143771" cy="914400"/>
        </p:xfrm>
        <a:graphic>
          <a:graphicData uri="http://schemas.openxmlformats.org/drawingml/2006/table">
            <a:tbl>
              <a:tblPr/>
              <a:tblGrid>
                <a:gridCol w="2113227"/>
                <a:gridCol w="3169841"/>
              </a:tblGrid>
              <a:tr h="2778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Tool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Role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28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C++ Standard Library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Primary language for all four apps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28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iostream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Console menus, prompts, output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28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fstream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Reading/writing persistent records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28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rand() / srand()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Random number generation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280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Arrays &amp; 2D arrays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Board &amp; record buffers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27780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Git &amp; GitHub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Version control &amp; submission</a:t>
                      </a:r>
                      <a:endParaRPr lang="en-US" sz="95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F8E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253502" y="120580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Working Method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53502" y="1480939"/>
            <a:ext cx="589265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Each task followed the same disciplined workflow: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253502" y="1736824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253502" y="1934865"/>
            <a:ext cx="528306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9" name="Text 6"/>
          <p:cNvSpPr/>
          <p:nvPr/>
        </p:nvSpPr>
        <p:spPr>
          <a:xfrm>
            <a:off x="6253502" y="202227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Task Brief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53502" y="2297410"/>
            <a:ext cx="52830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Note inputs, outputs, edge cases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253502" y="2636044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253502" y="2834084"/>
            <a:ext cx="528306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3" name="Text 10"/>
          <p:cNvSpPr/>
          <p:nvPr/>
        </p:nvSpPr>
        <p:spPr>
          <a:xfrm>
            <a:off x="6253502" y="2921496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Design Sketch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53502" y="3196630"/>
            <a:ext cx="52830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Map functions and flow on paper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253502" y="3535263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253502" y="3733304"/>
            <a:ext cx="528306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7" name="Text 14"/>
          <p:cNvSpPr/>
          <p:nvPr/>
        </p:nvSpPr>
        <p:spPr>
          <a:xfrm>
            <a:off x="6253502" y="3820716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Logic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253502" y="4095849"/>
            <a:ext cx="52830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Implement first, format later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253502" y="4434483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253502" y="4632523"/>
            <a:ext cx="528306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1" name="Text 18"/>
          <p:cNvSpPr/>
          <p:nvPr/>
        </p:nvSpPr>
        <p:spPr>
          <a:xfrm>
            <a:off x="6253502" y="471993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Validation &amp; Polish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253502" y="4995069"/>
            <a:ext cx="52830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Add input guarding and formatting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253502" y="5333702"/>
            <a:ext cx="248041" cy="1549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253502" y="5531743"/>
            <a:ext cx="5283068" cy="1270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25" name="Text 22"/>
          <p:cNvSpPr/>
          <p:nvPr/>
        </p:nvSpPr>
        <p:spPr>
          <a:xfrm>
            <a:off x="6253502" y="5619155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Test &amp; Submit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253502" y="5894288"/>
            <a:ext cx="5283068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Push tested code to GitHub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8842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1: Number Guessing Game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829296"/>
            <a:ext cx="6296860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simplest of the four tasks — an interactive game where the program generates a random target and the user guesses until correct.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488109"/>
            <a:ext cx="3076101" cy="1445419"/>
          </a:xfrm>
          <a:prstGeom prst="roundRect">
            <a:avLst>
              <a:gd name="adj" fmla="val 52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1590" dir="2700000">
              <a:srgbClr val="15161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05005" y="2659757"/>
            <a:ext cx="273281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Random Target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05005" y="3005038"/>
            <a:ext cx="2732813" cy="756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Generated via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rand()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seeded with 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617"/>
                </a:solidFill>
                <a:highlight>
                  <a:srgbClr val="EBDFD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srand(time(0))</a:t>
            </a:r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within a configurable range.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454119" y="2488109"/>
            <a:ext cx="3076101" cy="1445419"/>
          </a:xfrm>
          <a:prstGeom prst="roundRect">
            <a:avLst>
              <a:gd name="adj" fmla="val 52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1590" dir="2700000">
              <a:srgbClr val="15161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625763" y="2659757"/>
            <a:ext cx="273281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Feedback Loop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625763" y="3005038"/>
            <a:ext cx="2732813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"Too high" or "Too low" after every incorrect guess, with an attempt counter on win.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233360" y="4078188"/>
            <a:ext cx="6296860" cy="1184672"/>
          </a:xfrm>
          <a:prstGeom prst="roundRect">
            <a:avLst>
              <a:gd name="adj" fmla="val 643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21590" dir="2700000">
              <a:srgbClr val="15161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05005" y="4249837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Input Guarding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05005" y="4595118"/>
            <a:ext cx="595357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Non-numeric entries are handled gracefully — the loop cannot be broken by bad input.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5425579"/>
            <a:ext cx="6296860" cy="853480"/>
          </a:xfrm>
          <a:prstGeom prst="roundRect">
            <a:avLst>
              <a:gd name="adj" fmla="val 893"/>
            </a:avLst>
          </a:prstGeom>
          <a:solidFill>
            <a:srgbClr val="E4E6E7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8655" y="5638304"/>
            <a:ext cx="206667" cy="1652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70617" y="5611515"/>
            <a:ext cx="5594309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Reinforced clean read-compare-respond loops and graceful recovery from unexpected input.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2102"/>
            <a:ext cx="10868745" cy="535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2: Hotel Management System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467842"/>
            <a:ext cx="1086874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The most structurally demanding task — manages rooms, bookings, billing, and checkout, all backed by a text file so data survives between runs.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8174" y="3247827"/>
            <a:ext cx="1904952" cy="190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004074" y="2320131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Features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8004074" y="2742902"/>
            <a:ext cx="3532397" cy="1991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Room-status view: free or occupied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Booking flow: guest name, contact, stay duration → written to file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Billing routine: calculates total from room rate × nights</a:t>
            </a:r>
            <a:endParaRPr lang="en-US" sz="1300" dirty="0"/>
          </a:p>
          <a:p>
            <a:pPr algn="l" marL="264160" indent="-264160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Checkout: frees the room and removes the record from file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04074" y="4889599"/>
            <a:ext cx="3532397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File Handling Insight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004074" y="5312370"/>
            <a:ext cx="3532397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C++ file streams have no built-in "delete this record" — checkout rewrites the entire file excluding the removed entry.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184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Projects 3 &amp; 4: Tic-Tac-Toe &amp; Contact Management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3562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Tic-Tac-Toe Game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91990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Two-player game on a 3×3 grid stored as a 2D character array.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694807"/>
            <a:ext cx="5203794" cy="2315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Board redrawn after every move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Move validation: rejects out-of-range or occupied cells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Win detection across 8 lines (3 rows, 3 columns, 2 diagonals)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Automatic turn-switching with clear end-of-game messages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332776" y="243562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Contact Management System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332776" y="291990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A dedicated contact book extending file-handling lessons from the Hotel System.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332776" y="3694807"/>
            <a:ext cx="5203794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Structured storage: name, phone, email in a delimited text file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Linear search by name or phone number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Rebuild-on-delete: read all, skip target, rewrite fresh file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Duplicate-entry and empty-field checks on add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Summary of Deliverables &amp; Testing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193602"/>
          <a:ext cx="9143771" cy="914400"/>
        </p:xfrm>
        <a:graphic>
          <a:graphicData uri="http://schemas.openxmlformats.org/drawingml/2006/table">
            <a:tbl>
              <a:tblPr/>
              <a:tblGrid>
                <a:gridCol w="3260624"/>
                <a:gridCol w="4347498"/>
                <a:gridCol w="3260624"/>
              </a:tblGrid>
              <a:tr h="353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Project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Core Concepts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Persistence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356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Number Guessing Game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Randomisation, loops, comparisons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None (in-memory)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356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Hotel Management System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Records, menus, billing logic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Text file (bookings)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35638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Tic-Tac-Toe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2D arrays, state checks, turn logic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None (in-memory)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  <a:tr h="353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Contact Management System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Search, add/view/delete, file rewrite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51617"/>
                          </a:solidFill>
                          <a:latin typeface="Inconsolata" pitchFamily="34" charset="0"/>
                          <a:ea typeface="Inconsolata" pitchFamily="34" charset="-122"/>
                          <a:cs typeface="Inconsolata" pitchFamily="34" charset="-120"/>
                        </a:rPr>
                        <a:t>Text file (contacts)</a:t>
                      </a:r>
                      <a:endParaRPr lang="en-US" sz="1100" dirty="0">
                        <a:latin typeface="Inconsolata" charset="0"/>
                        <a:ea typeface="Inconsolata" charset="0"/>
                        <a:cs typeface="Inconsolata" charset="0"/>
                      </a:endParaRPr>
                    </a:p>
                  </a:txBody>
                  <a:tcPr marL="144717" marR="144717" marT="6350" marB="6350" anchor="ctr">
                    <a:lnL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61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CE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3148112"/>
            <a:ext cx="10868745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Testing Approach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61475" y="3540323"/>
            <a:ext cx="5379010" cy="1343720"/>
          </a:xfrm>
          <a:prstGeom prst="roundRect">
            <a:avLst>
              <a:gd name="adj" fmla="val 56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9050" dir="2700000">
              <a:srgbClr val="151617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12482" y="3691334"/>
            <a:ext cx="434071" cy="434082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1839" y="3810695"/>
            <a:ext cx="195357" cy="1953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2482" y="4236145"/>
            <a:ext cx="507699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Normal-Case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12482" y="4528641"/>
            <a:ext cx="507699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Typical, well-formed input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51210" y="3540323"/>
            <a:ext cx="5379010" cy="1343720"/>
          </a:xfrm>
          <a:prstGeom prst="roundRect">
            <a:avLst>
              <a:gd name="adj" fmla="val 56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9050" dir="2700000">
              <a:srgbClr val="151617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02217" y="3691334"/>
            <a:ext cx="434071" cy="434082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1575" y="3810695"/>
            <a:ext cx="195357" cy="1953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302217" y="4236145"/>
            <a:ext cx="507699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Boundary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302217" y="4528641"/>
            <a:ext cx="507699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Smallest/largest valid values, edge cells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61475" y="4994771"/>
            <a:ext cx="5379010" cy="1343720"/>
          </a:xfrm>
          <a:prstGeom prst="roundRect">
            <a:avLst>
              <a:gd name="adj" fmla="val 56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9050" dir="2700000">
              <a:srgbClr val="151617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12482" y="5145782"/>
            <a:ext cx="434071" cy="434082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1839" y="5265142"/>
            <a:ext cx="195357" cy="19536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2482" y="5690592"/>
            <a:ext cx="507699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Invalid Input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12482" y="5983089"/>
            <a:ext cx="507699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Out-of-range choices, non-numeric entries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151210" y="4994771"/>
            <a:ext cx="5379010" cy="1343720"/>
          </a:xfrm>
          <a:prstGeom prst="roundRect">
            <a:avLst>
              <a:gd name="adj" fmla="val 567"/>
            </a:avLst>
          </a:prstGeom>
          <a:solidFill>
            <a:srgbClr val="F8ECE4"/>
          </a:solidFill>
          <a:ln w="6350">
            <a:solidFill>
              <a:srgbClr val="151617"/>
            </a:solidFill>
            <a:prstDash val="solid"/>
          </a:ln>
          <a:effectLst>
            <a:outerShdw sx="100000" sy="100000" kx="0" ky="0" algn="bl" rotWithShape="0" blurRad="127" dist="19050" dir="2700000">
              <a:srgbClr val="151617">
                <a:alpha val="10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302217" y="5145782"/>
            <a:ext cx="434071" cy="434082"/>
          </a:xfrm>
          <a:prstGeom prst="ellipse">
            <a:avLst/>
          </a:prstGeom>
          <a:solidFill>
            <a:srgbClr val="15161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21575" y="5265142"/>
            <a:ext cx="195357" cy="19536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02217" y="5690592"/>
            <a:ext cx="507699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302217" y="5983089"/>
            <a:ext cx="5076996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Reopen program to confirm records intact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39254"/>
            <a:ext cx="6296860" cy="101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Outcomes, Extensions &amp; References</a:t>
            </a:r>
            <a:endParaRPr lang="en-US" sz="31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63812"/>
            <a:ext cx="6296860" cy="142527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9140" y="1945283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Outcomes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919140" y="2282825"/>
            <a:ext cx="5857728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Confidence with menu-driven programs, file streams for persistence, 2D array state management, edge-case testing habits, and Git-based submission workflow.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28591"/>
            <a:ext cx="6296860" cy="14252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9140" y="3510062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Possible Extensions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919140" y="3847604"/>
            <a:ext cx="5857728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Difficulty levels for Guessing Game; room categories &amp; date-range checks for Hotel System; AI opponent for Tic-Tac-Toe; edit option &amp; lightweight database for Contacts.</a:t>
            </a:r>
            <a:endParaRPr lang="en-US" sz="12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893370"/>
            <a:ext cx="6296860" cy="142527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9140" y="5074841"/>
            <a:ext cx="5857728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References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919140" y="5412383"/>
            <a:ext cx="5857728" cy="7247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cppreference.com · IILM University (iilm.edu/greater-noida/) · VirtualWorks Lab Offer Letter &amp; Certificate, Ref. VWX-SEP26TOOCT26-773 · GitHub submission repositories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2026-09-10T18:04:06Z</dcterms:created>
  <dcterms:modified xsi:type="dcterms:W3CDTF">2026-09-10T18:04:06Z</dcterms:modified>
</cp:coreProperties>
</file>